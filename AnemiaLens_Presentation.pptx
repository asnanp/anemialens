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001E"/>
                </a:solidFill>
                <a:latin typeface="Courier New"/>
              </a:rPr>
              <a:t>HACKATHON 2026  ·  AI FOR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2F0EC"/>
                </a:solidFill>
                <a:latin typeface="Calibri"/>
              </a:rPr>
              <a:t>AnemiaLens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8884"/>
                </a:solidFill>
                <a:latin typeface="Calibri"/>
              </a:rPr>
              <a:t>Smartphone-first anemia screening powered by
computer vision and grounded GenAI.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63440"/>
            <a:ext cx="2103120" cy="82296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001E"/>
                </a:solidFill>
                <a:latin typeface="Calibri"/>
              </a:rPr>
              <a:t>1.6B+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884"/>
                </a:solidFill>
                <a:latin typeface="Courier New"/>
              </a:rPr>
              <a:t>People Affected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4663440"/>
            <a:ext cx="2103120" cy="82296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001E"/>
                </a:solidFill>
                <a:latin typeface="Calibri"/>
              </a:rPr>
              <a:t>92%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884"/>
                </a:solidFill>
                <a:latin typeface="Courier New"/>
              </a:rPr>
              <a:t>Sensitivity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4663440"/>
            <a:ext cx="2103120" cy="82296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001E"/>
                </a:solidFill>
                <a:latin typeface="Calibri"/>
              </a:rP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884"/>
                </a:solidFill>
                <a:latin typeface="Courier New"/>
              </a:rPr>
              <a:t>Marginal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309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240"/>
                </a:solidFill>
                <a:latin typeface="Courier New"/>
              </a:rPr>
              <a:t>3-Minute Demo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001E"/>
                </a:solidFill>
                <a:latin typeface="Courier New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2F0EC"/>
                </a:solidFill>
                <a:latin typeface="Calibri"/>
              </a:rPr>
              <a:t>Bridging the Screening Gap.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474720" cy="3474720"/>
          </a:xfrm>
          <a:prstGeom prst="rect">
            <a:avLst/>
          </a:prstGeom>
          <a:solidFill>
            <a:srgbClr val="0A0A14"/>
          </a:solidFill>
          <a:ln w="19050">
            <a:solidFill>
              <a:srgbClr val="C80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8001E"/>
                </a:solidFill>
                <a:latin typeface="Calibri"/>
              </a:rPr>
              <a:t>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884"/>
                </a:solidFill>
                <a:latin typeface="Calibri"/>
              </a:rPr>
              <a:t>of the world's population
has anemia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240"/>
                </a:solidFill>
                <a:latin typeface="Calibri"/>
              </a:rPr>
              <a:t>Yet most cases go undetected
due to cost and access barriers.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7589520" cy="86868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901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0EC"/>
                </a:solidFill>
                <a:latin typeface="Calibri"/>
              </a:rPr>
              <a:t>💸 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1284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Blood tests cost $5–$30 — unaffordable in low-income settings.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834640"/>
            <a:ext cx="7589520" cy="86868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9077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0EC"/>
                </a:solidFill>
                <a:latin typeface="Calibri"/>
              </a:rPr>
              <a:t>🏥  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1868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Nearest clinic can be hours away for rural communities.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840480"/>
            <a:ext cx="7589520" cy="86868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0EC"/>
                </a:solidFill>
                <a:latin typeface="Calibri"/>
              </a:rPr>
              <a:t>⏱  Delay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245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Results take days. Anemia worsens silently in the meantime.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4846320"/>
            <a:ext cx="7589520" cy="86868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9194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F0EC"/>
                </a:solidFill>
                <a:latin typeface="Calibri"/>
              </a:rPr>
              <a:t>📉  Awareness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2303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Symptoms are vague — fatigue, dizziness — easy to dismiss.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001E"/>
                </a:solidFill>
                <a:latin typeface="Courier New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2F0EC"/>
                </a:solidFill>
                <a:latin typeface="Calibri"/>
              </a:rPr>
              <a:t>Your phone is the 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884"/>
                </a:solidFill>
                <a:latin typeface="Calibri"/>
              </a:rPr>
              <a:t>AnemiaLens analyzes the inner lower eyelid (conjunctiva) — when hemoglobin drops,
this tissue loses its pink color. Our model detects that pallor non-invasively.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3657600" cy="3200400"/>
          </a:xfrm>
          <a:prstGeom prst="rect">
            <a:avLst/>
          </a:prstGeom>
          <a:solidFill>
            <a:srgbClr val="0A0A14"/>
          </a:solidFill>
          <a:ln w="12700">
            <a:solidFill>
              <a:srgbClr val="C80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3657600" cy="73152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F0EC"/>
                </a:solidFill>
                <a:latin typeface="Calibri"/>
              </a:rPr>
              <a:t>📷 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884"/>
                </a:solidFill>
                <a:latin typeface="Calibri"/>
              </a:rPr>
              <a:t>Photograph the inner lower eyelid with any smartphone camera. No special hardware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651760"/>
            <a:ext cx="3657600" cy="3200400"/>
          </a:xfrm>
          <a:prstGeom prst="rect">
            <a:avLst/>
          </a:prstGeom>
          <a:solidFill>
            <a:srgbClr val="0A0A14"/>
          </a:solidFill>
          <a:ln w="12700">
            <a:solidFill>
              <a:srgbClr val="C80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651760"/>
            <a:ext cx="3657600" cy="73152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F0EC"/>
                </a:solidFill>
                <a:latin typeface="Calibri"/>
              </a:rPr>
              <a:t>🧠  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884"/>
                </a:solidFill>
                <a:latin typeface="Calibri"/>
              </a:rPr>
              <a:t>EfficientNet-B0 estimates hemoglobin level from conjunctival pallor. Validated on 710 clinical specimens.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651760"/>
            <a:ext cx="3657600" cy="3200400"/>
          </a:xfrm>
          <a:prstGeom prst="rect">
            <a:avLst/>
          </a:prstGeom>
          <a:solidFill>
            <a:srgbClr val="0A0A14"/>
          </a:solidFill>
          <a:ln w="12700">
            <a:solidFill>
              <a:srgbClr val="C80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651760"/>
            <a:ext cx="3657600" cy="73152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F0EC"/>
                </a:solidFill>
                <a:latin typeface="Calibri"/>
              </a:rPr>
              <a:t>📋  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3832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884"/>
                </a:solidFill>
                <a:latin typeface="Calibri"/>
              </a:rPr>
              <a:t>Structured clinical brief generated instantly. Share with a doctor in one tap.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001E"/>
                </a:solidFill>
                <a:latin typeface="Courier New"/>
              </a:rPr>
              <a:t>Zero blood draw  ·  Zero hardware  ·  Zero marginal cost  ·  Works offline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001E"/>
                </a:solidFill>
                <a:latin typeface="Courier New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2F0EC"/>
                </a:solidFill>
                <a:latin typeface="Calibri"/>
              </a:rPr>
              <a:t>Five steps to screening clarity.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331720"/>
            <a:ext cx="384048" cy="54864"/>
          </a:xfrm>
          <a:prstGeom prst="rect">
            <a:avLst/>
          </a:prstGeom>
          <a:solidFill>
            <a:srgbClr val="444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103120" cy="347472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103120" cy="64008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001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C"/>
                </a:solidFill>
                <a:latin typeface="Calibri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Photograph inner lower eyelid in bright daylight.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1728" y="2331720"/>
            <a:ext cx="384048" cy="54864"/>
          </a:xfrm>
          <a:prstGeom prst="rect">
            <a:avLst/>
          </a:prstGeom>
          <a:solidFill>
            <a:srgbClr val="444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61488" y="1828800"/>
            <a:ext cx="2103120" cy="347472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61488" y="1828800"/>
            <a:ext cx="2103120" cy="64008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001E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C"/>
                </a:solidFill>
                <a:latin typeface="Calibri"/>
              </a:rPr>
              <a:t>Quality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8803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AI rejects blurry or misframed images before analysis.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86016" y="2331720"/>
            <a:ext cx="384048" cy="54864"/>
          </a:xfrm>
          <a:prstGeom prst="rect">
            <a:avLst/>
          </a:prstGeom>
          <a:solidFill>
            <a:srgbClr val="444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65776" y="1828800"/>
            <a:ext cx="2103120" cy="347472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1828800"/>
            <a:ext cx="2103120" cy="64008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2936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001E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936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C"/>
                </a:solidFill>
                <a:latin typeface="Calibri"/>
              </a:rPr>
              <a:t>Vision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8803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EfficientNet-B0 estimates hemoglobin from pallor.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0304" y="2331720"/>
            <a:ext cx="384048" cy="54864"/>
          </a:xfrm>
          <a:prstGeom prst="rect">
            <a:avLst/>
          </a:prstGeom>
          <a:solidFill>
            <a:srgbClr val="444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70064" y="1828800"/>
            <a:ext cx="2103120" cy="347472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70064" y="1828800"/>
            <a:ext cx="2103120" cy="64008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001E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C"/>
                </a:solidFill>
                <a:latin typeface="Calibri"/>
              </a:rPr>
              <a:t>Symptom 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4" y="28803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Patient symptoms fuse with image biomarkers.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74352" y="1828800"/>
            <a:ext cx="2103120" cy="347472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74352" y="1828800"/>
            <a:ext cx="2103120" cy="64008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1512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001E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1512" y="2423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C"/>
                </a:solidFill>
                <a:latin typeface="Calibri"/>
              </a:rPr>
              <a:t>Clinical Brief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288036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Triage band + handoff summary generated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001E"/>
                </a:solidFill>
                <a:latin typeface="Courier New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2F0EC"/>
                </a:solidFill>
                <a:latin typeface="Calibri"/>
              </a:rPr>
              <a:t>The Intelligence Framework.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1325880"/>
          </a:xfrm>
          <a:prstGeom prst="rect">
            <a:avLst/>
          </a:prstGeom>
          <a:solidFill>
            <a:srgbClr val="0A0A14"/>
          </a:solidFill>
          <a:ln w="12700">
            <a:solidFill>
              <a:srgbClr val="C80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09728" cy="132588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001E"/>
                </a:solidFill>
                <a:latin typeface="Courier New"/>
              </a:rPr>
              <a:t>VISION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76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F0EC"/>
                </a:solidFill>
                <a:latin typeface="Calibri"/>
              </a:rPr>
              <a:t>EfficientNet-B0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011680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884"/>
                </a:solidFill>
                <a:latin typeface="Calibri"/>
              </a:rPr>
              <a:t>Trained on 710 conjunctival specimens. Predicts hemoglobin (g/dL) and anemia risk score from a single image. Runs in &lt;2s on CPU.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47120" cy="1325880"/>
          </a:xfrm>
          <a:prstGeom prst="rect">
            <a:avLst/>
          </a:prstGeom>
          <a:solidFill>
            <a:srgbClr val="0A0A1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109728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ourier New"/>
              </a:rPr>
              <a:t>GENAI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393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F0EC"/>
                </a:solidFill>
                <a:latin typeface="Calibri"/>
              </a:rPr>
              <a:t>Qwen-2.5 (Grounded)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474720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884"/>
                </a:solidFill>
                <a:latin typeface="Calibri"/>
              </a:rPr>
              <a:t>Generates safe, personalized clinical guidance. Constrained by deterministic medical rules — cannot hallucinate a diagnosis. Every output is rule-validated.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11247120" cy="1325880"/>
          </a:xfrm>
          <a:prstGeom prst="rect">
            <a:avLst/>
          </a:prstGeom>
          <a:solidFill>
            <a:srgbClr val="0A0A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09728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  <a:latin typeface="Courier New"/>
              </a:rPr>
              <a:t>SAFETY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023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F0EC"/>
                </a:solidFill>
                <a:latin typeface="Calibri"/>
              </a:rPr>
              <a:t>4-Band Triage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937760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884"/>
                </a:solidFill>
                <a:latin typeface="Calibri"/>
              </a:rPr>
              <a:t>Low / Moderate / High Concern / Retake. Designed to prioritize patient safety over false confidence. Non-diagnostic language throughout.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72200"/>
            <a:ext cx="1783080" cy="41148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19963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8884"/>
                </a:solidFill>
                <a:latin typeface="Courier New"/>
              </a:rPr>
              <a:t>React + Vite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6172200"/>
            <a:ext cx="1783080" cy="41148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619963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8884"/>
                </a:solidFill>
                <a:latin typeface="Courier New"/>
              </a:rPr>
              <a:t>FastAPI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6172200"/>
            <a:ext cx="1783080" cy="41148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619963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8884"/>
                </a:solidFill>
                <a:latin typeface="Courier New"/>
              </a:rPr>
              <a:t>EfficientNet-B0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6172200"/>
            <a:ext cx="1783080" cy="41148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619963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8884"/>
                </a:solidFill>
                <a:latin typeface="Courier New"/>
              </a:rPr>
              <a:t>Qwen-2.5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6172200"/>
            <a:ext cx="1783080" cy="41148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619963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8884"/>
                </a:solidFill>
                <a:latin typeface="Courier New"/>
              </a:rPr>
              <a:t>Python 3.11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0" y="6172200"/>
            <a:ext cx="1783080" cy="41148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6199632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8884"/>
                </a:solidFill>
                <a:latin typeface="Courier New"/>
              </a:rPr>
              <a:t>No cloud dependency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001E"/>
                </a:solidFill>
                <a:latin typeface="Courier New"/>
              </a:rPr>
              <a:t>LIVE DEMO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2F0EC"/>
                </a:solidFill>
                <a:latin typeface="Calibri"/>
              </a:rPr>
              <a:t>Real screening result.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303520" cy="4389120"/>
          </a:xfrm>
          <a:prstGeom prst="rect">
            <a:avLst/>
          </a:prstGeom>
          <a:solidFill>
            <a:srgbClr val="0A0A1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09728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ourier New"/>
              </a:rPr>
              <a:t>MODERATE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59E0B"/>
                </a:solidFill>
                <a:latin typeface="Calibri"/>
              </a:rPr>
              <a:t>9.8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884"/>
                </a:solidFill>
                <a:latin typeface="Courier New"/>
              </a:rPr>
              <a:t>g/dL  Hemoglobin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884"/>
                </a:solidFill>
                <a:latin typeface="Calibri"/>
              </a:rPr>
              <a:t>Hemoglobin below normal range. Clinical follow-up
recommended within 1–2 weeks.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46320"/>
            <a:ext cx="1463040" cy="822960"/>
          </a:xfrm>
          <a:prstGeom prst="rect">
            <a:avLst/>
          </a:prstGeom>
          <a:solidFill>
            <a:srgbClr val="020208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92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F0EC"/>
                </a:solidFill>
                <a:latin typeface="Calibri"/>
              </a:rPr>
              <a:t>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0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884"/>
                </a:solidFill>
                <a:latin typeface="Courier New"/>
              </a:rPr>
              <a:t>Anemia Risk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4846320"/>
            <a:ext cx="1463040" cy="822960"/>
          </a:xfrm>
          <a:prstGeom prst="rect">
            <a:avLst/>
          </a:prstGeom>
          <a:solidFill>
            <a:srgbClr val="020208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4892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F0EC"/>
                </a:solidFill>
                <a:latin typeface="Calibri"/>
              </a:rPr>
              <a:t>88%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5230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884"/>
                </a:solidFill>
                <a:latin typeface="Courier New"/>
              </a:rPr>
              <a:t>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40" y="4846320"/>
            <a:ext cx="1463040" cy="822960"/>
          </a:xfrm>
          <a:prstGeom prst="rect">
            <a:avLst/>
          </a:prstGeom>
          <a:solidFill>
            <a:srgbClr val="020208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4892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F0EC"/>
                </a:solidFill>
                <a:latin typeface="Calibri"/>
              </a:rPr>
              <a:t>Band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52303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884"/>
                </a:solidFill>
                <a:latin typeface="Courier New"/>
              </a:rPr>
              <a:t>Triage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737360"/>
            <a:ext cx="5852160" cy="4389120"/>
          </a:xfrm>
          <a:prstGeom prst="rect">
            <a:avLst/>
          </a:prstGeom>
          <a:solidFill>
            <a:srgbClr val="000000"/>
          </a:solidFill>
          <a:ln w="12700">
            <a:solidFill>
              <a:srgbClr val="C80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828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001E"/>
                </a:solidFill>
                <a:latin typeface="Courier New"/>
              </a:rPr>
              <a:t>CLINICAL HANDOFF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286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001E"/>
                </a:solidFill>
                <a:latin typeface="Courier New"/>
              </a:rPr>
              <a:t>Provider: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2860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C"/>
                </a:solidFill>
                <a:latin typeface="Courier New"/>
              </a:rPr>
              <a:t>EfficientNet-B0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700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001E"/>
                </a:solidFill>
                <a:latin typeface="Courier New"/>
              </a:rPr>
              <a:t>Risk Score: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67004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C"/>
                </a:solidFill>
                <a:latin typeface="Courier New"/>
              </a:rPr>
              <a:t>68.4% (Moderate)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05409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001E"/>
                </a:solidFill>
                <a:latin typeface="Courier New"/>
              </a:rPr>
              <a:t>Hb Estimate: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05409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C"/>
                </a:solidFill>
                <a:latin typeface="Courier New"/>
              </a:rPr>
              <a:t>9.8 g/dL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4381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001E"/>
                </a:solidFill>
                <a:latin typeface="Courier New"/>
              </a:rPr>
              <a:t>Confidence: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4381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C"/>
                </a:solidFill>
                <a:latin typeface="Courier New"/>
              </a:rPr>
              <a:t>88%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82219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001E"/>
                </a:solidFill>
                <a:latin typeface="Courier New"/>
              </a:rPr>
              <a:t>Triage Band: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8221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C"/>
                </a:solidFill>
                <a:latin typeface="Courier New"/>
              </a:rPr>
              <a:t>Band 2 — Monitor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2062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001E"/>
                </a:solidFill>
                <a:latin typeface="Courier New"/>
              </a:rPr>
              <a:t>Symptoms: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2062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C"/>
                </a:solidFill>
                <a:latin typeface="Courier New"/>
              </a:rPr>
              <a:t>Fatigue, Dizziness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5902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001E"/>
                </a:solidFill>
                <a:latin typeface="Courier New"/>
              </a:rPr>
              <a:t>Next Step: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5902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C"/>
                </a:solidFill>
                <a:latin typeface="Courier New"/>
              </a:rPr>
              <a:t>CBC within 1–2 weeks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9743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001E"/>
                </a:solidFill>
                <a:latin typeface="Courier New"/>
              </a:rPr>
              <a:t>Disclaimer: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49743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2F0EC"/>
                </a:solidFill>
                <a:latin typeface="Courier New"/>
              </a:rPr>
              <a:t>Screening only. Not diagnostic.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001E"/>
                </a:solidFill>
                <a:latin typeface="Courier New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2F0EC"/>
                </a:solidFill>
                <a:latin typeface="Calibri"/>
              </a:rPr>
              <a:t>Designed for the last mile.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0" cy="169164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73152" cy="169164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C"/>
                </a:solidFill>
                <a:latin typeface="Calibri"/>
              </a:rPr>
              <a:t>Community Health Workers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Deploy in rural India, sub-Saharan Africa, or any low-resource setting. No training beyond a 5-minute guide.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486400" cy="169164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73152" cy="169164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385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C"/>
                </a:solidFill>
                <a:latin typeface="Calibri"/>
              </a:rPr>
              <a:t>Pregnant Women &amp; Children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The highest-risk groups — who are also least likely to access a clinic. AnemiaLens meets them where they are.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40"/>
            <a:ext cx="5486400" cy="169164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73152" cy="169164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587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C"/>
                </a:solidFill>
                <a:latin typeface="Calibri"/>
              </a:rPr>
              <a:t>School &amp; Field Nurses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Rapid triage in schools, refugee camps, and disaster zones. Results in under 60 seconds.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49040"/>
            <a:ext cx="5486400" cy="169164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49040"/>
            <a:ext cx="73152" cy="169164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8587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F0EC"/>
                </a:solidFill>
                <a:latin typeface="Calibri"/>
              </a:rPr>
              <a:t>Telemedicine Platforms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5196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884"/>
                </a:solidFill>
                <a:latin typeface="Calibri"/>
              </a:rPr>
              <a:t>Structured clinical brief integrates directly into existing telehealth workflows via share/export.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06440"/>
            <a:ext cx="11247120" cy="731520"/>
          </a:xfrm>
          <a:prstGeom prst="rect">
            <a:avLst/>
          </a:prstGeom>
          <a:solidFill>
            <a:srgbClr val="0A0A14"/>
          </a:solidFill>
          <a:ln w="9525">
            <a:solidFill>
              <a:srgbClr val="444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001E"/>
                </a:solidFill>
                <a:latin typeface="Courier New"/>
              </a:rPr>
              <a:t>UN SDG 3: Good Health &amp; Well-Being   ·   UN SDG 10: Reduced Inequalities   ·   UN SDG 1: No Poverty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73152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2F0EC"/>
                </a:solidFill>
                <a:latin typeface="Calibri"/>
              </a:rPr>
              <a:t>AnemiaLens doesn't replace doctors.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A8884"/>
                </a:solidFill>
                <a:latin typeface="Calibri"/>
              </a:rPr>
              <a:t>It gets patients to doctors sooner,
with better information, at zero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11247120" cy="73152"/>
          </a:xfrm>
          <a:prstGeom prst="rect">
            <a:avLst/>
          </a:prstGeom>
          <a:solidFill>
            <a:srgbClr val="C80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001E"/>
                </a:solidFill>
                <a:latin typeface="Calibri"/>
              </a:rPr>
              <a:t>1.6B+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8884"/>
                </a:solidFill>
                <a:latin typeface="Courier New"/>
              </a:rPr>
              <a:t>People we can 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206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001E"/>
                </a:solidFill>
                <a:latin typeface="Calibri"/>
              </a:rPr>
              <a:t>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0292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8884"/>
                </a:solidFill>
                <a:latin typeface="Courier New"/>
              </a:rPr>
              <a:t>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206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001E"/>
                </a:solidFill>
                <a:latin typeface="Calibri"/>
              </a:rP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0292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8884"/>
                </a:solidFill>
                <a:latin typeface="Courier New"/>
              </a:rPr>
              <a:t>Marginal cost per screening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206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001E"/>
                </a:solidFill>
                <a:latin typeface="Calibri"/>
              </a:rPr>
              <a:t>&lt;60s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50292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8884"/>
                </a:solidFill>
                <a:latin typeface="Courier New"/>
              </a:rPr>
              <a:t>Time to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2F0EC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