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0" y="-73152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0" b="1" i="0">
                <a:solidFill>
                  <a:srgbClr val="14121E"/>
                </a:solidFill>
                <a:latin typeface="Calibri"/>
              </a:rPr>
              <a:t>A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502920"/>
            <a:ext cx="11521440" cy="22860"/>
          </a:xfrm>
          <a:prstGeom prst="rect">
            <a:avLst/>
          </a:prstGeom>
          <a:solidFill>
            <a:srgbClr val="2A2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5943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001E"/>
                </a:solidFill>
                <a:latin typeface="Courier New"/>
              </a:rPr>
              <a:t>HACKATHON 2026  ·  AI FOR HEALTH  ·  NON-INVASIVE SCREENING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F2F0EC"/>
                </a:solidFill>
                <a:latin typeface="Calibri"/>
              </a:rPr>
              <a:t>AnemiaLens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971800"/>
            <a:ext cx="3474720" cy="64008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3154680"/>
            <a:ext cx="7132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8A8884"/>
                </a:solidFill>
                <a:latin typeface="Calibri"/>
              </a:rPr>
              <a:t>Smartphone-first anemia screening
powered by computer vision + grounded GenAI.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343400"/>
            <a:ext cx="2148840" cy="960120"/>
          </a:xfrm>
          <a:prstGeom prst="rect">
            <a:avLst/>
          </a:prstGeom>
          <a:solidFill>
            <a:srgbClr val="101022"/>
          </a:solidFill>
          <a:ln w="9525">
            <a:solidFill>
              <a:srgbClr val="2A2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4416552"/>
            <a:ext cx="1874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8001E"/>
                </a:solidFill>
                <a:latin typeface="Calibri"/>
              </a:rPr>
              <a:t>1.6B+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4937760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A8884"/>
                </a:solidFill>
                <a:latin typeface="Courier New"/>
              </a:rPr>
              <a:t>PEOPLE AFFECTED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4343400"/>
            <a:ext cx="2148840" cy="960120"/>
          </a:xfrm>
          <a:prstGeom prst="rect">
            <a:avLst/>
          </a:prstGeom>
          <a:solidFill>
            <a:srgbClr val="101022"/>
          </a:solidFill>
          <a:ln w="9525">
            <a:solidFill>
              <a:srgbClr val="2A2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07792" y="4416552"/>
            <a:ext cx="1874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2F0EC"/>
                </a:solidFill>
                <a:latin typeface="Calibri"/>
              </a:rPr>
              <a:t>92%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07792" y="4937760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A8884"/>
                </a:solidFill>
                <a:latin typeface="Courier New"/>
              </a:rPr>
              <a:t>SENSITIVITY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4920" y="4343400"/>
            <a:ext cx="2148840" cy="960120"/>
          </a:xfrm>
          <a:prstGeom prst="rect">
            <a:avLst/>
          </a:prstGeom>
          <a:solidFill>
            <a:srgbClr val="101022"/>
          </a:solidFill>
          <a:ln w="9525">
            <a:solidFill>
              <a:srgbClr val="2A2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9512" y="4416552"/>
            <a:ext cx="1874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0B981"/>
                </a:solidFill>
                <a:latin typeface="Calibri"/>
              </a:rPr>
              <a:t>$0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9512" y="4937760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A8884"/>
                </a:solidFill>
                <a:latin typeface="Courier New"/>
              </a:rPr>
              <a:t>MARGINAL COST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4343400"/>
            <a:ext cx="2148840" cy="960120"/>
          </a:xfrm>
          <a:prstGeom prst="rect">
            <a:avLst/>
          </a:prstGeom>
          <a:solidFill>
            <a:srgbClr val="101022"/>
          </a:solidFill>
          <a:ln w="9525">
            <a:solidFill>
              <a:srgbClr val="2A2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71232" y="4416552"/>
            <a:ext cx="1874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9E0B"/>
                </a:solidFill>
                <a:latin typeface="Calibri"/>
              </a:rPr>
              <a:t>&lt;60s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71232" y="4937760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A8884"/>
                </a:solidFill>
                <a:latin typeface="Courier New"/>
              </a:rPr>
              <a:t>TIME TO RESULT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6263640"/>
            <a:ext cx="11521440" cy="22860"/>
          </a:xfrm>
          <a:prstGeom prst="rect">
            <a:avLst/>
          </a:prstGeom>
          <a:solidFill>
            <a:srgbClr val="2A2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63550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A2830"/>
                </a:solidFill>
                <a:latin typeface="Courier New"/>
              </a:rPr>
              <a:t>3-MINUTE DEMO  · 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635508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A2830"/>
                </a:solidFill>
                <a:latin typeface="Courier New"/>
              </a:rPr>
              <a:t>ZERO BLOOD DRAW  ·  WORKS OFFLINE  ·  ANY SMARTPHONE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0" y="4572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1" i="0">
                <a:solidFill>
                  <a:srgbClr val="14121E"/>
                </a:solidFill>
                <a:latin typeface="Calibri"/>
              </a:rPr>
              <a:t>25%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502920"/>
            <a:ext cx="11521440" cy="22860"/>
          </a:xfrm>
          <a:prstGeom prst="rect">
            <a:avLst/>
          </a:prstGeom>
          <a:solidFill>
            <a:srgbClr val="2A2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59436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001E"/>
                </a:solidFill>
                <a:latin typeface="Courier New"/>
              </a:rPr>
              <a:t>01  /  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6868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2F0EC"/>
                </a:solidFill>
                <a:latin typeface="Calibri"/>
              </a:rPr>
              <a:t>Bridging the Screening Gap.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874519"/>
            <a:ext cx="5029200" cy="36576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2057400"/>
            <a:ext cx="3840480" cy="3840480"/>
          </a:xfrm>
          <a:prstGeom prst="rect">
            <a:avLst/>
          </a:prstGeom>
          <a:solidFill>
            <a:srgbClr val="101022"/>
          </a:solidFill>
          <a:ln w="19050">
            <a:solidFill>
              <a:srgbClr val="C80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2057400"/>
            <a:ext cx="3840480" cy="64008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194560"/>
            <a:ext cx="356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1" i="0">
                <a:solidFill>
                  <a:srgbClr val="C8001E"/>
                </a:solidFill>
                <a:latin typeface="Calibri"/>
              </a:rPr>
              <a:t>25%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6616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2F0EC"/>
                </a:solidFill>
                <a:latin typeface="Calibri"/>
              </a:rPr>
              <a:t>of the global population
has anemia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251960"/>
            <a:ext cx="3474720" cy="22860"/>
          </a:xfrm>
          <a:prstGeom prst="rect">
            <a:avLst/>
          </a:prstGeom>
          <a:solidFill>
            <a:srgbClr val="2A2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3434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A8884"/>
                </a:solidFill>
                <a:latin typeface="Calibri"/>
              </a:rPr>
              <a:t>Yet most cases go undetected due to
cost, distance, and systemic neglect.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057400"/>
            <a:ext cx="7406640" cy="868680"/>
          </a:xfrm>
          <a:prstGeom prst="rect">
            <a:avLst/>
          </a:prstGeom>
          <a:solidFill>
            <a:srgbClr val="101022"/>
          </a:solidFill>
          <a:ln w="9525">
            <a:solidFill>
              <a:srgbClr val="2A2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60" y="2057400"/>
            <a:ext cx="64008" cy="868680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1728" y="2185416"/>
            <a:ext cx="7077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2F0EC"/>
                </a:solidFill>
                <a:latin typeface="Calibri"/>
              </a:rPr>
              <a:t>Cost Barrier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2587752"/>
            <a:ext cx="707745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8884"/>
                </a:solidFill>
                <a:latin typeface="Calibri"/>
              </a:rPr>
              <a:t>Blood tests cost $5–$30 — unaffordable in low-income settings.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026664"/>
            <a:ext cx="7406640" cy="868680"/>
          </a:xfrm>
          <a:prstGeom prst="rect">
            <a:avLst/>
          </a:prstGeom>
          <a:solidFill>
            <a:srgbClr val="101022"/>
          </a:solidFill>
          <a:ln w="9525">
            <a:solidFill>
              <a:srgbClr val="2A2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026664"/>
            <a:ext cx="64008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81728" y="3154680"/>
            <a:ext cx="7077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2F0EC"/>
                </a:solidFill>
                <a:latin typeface="Calibri"/>
              </a:rPr>
              <a:t>Distance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3557016"/>
            <a:ext cx="707745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8884"/>
                </a:solidFill>
                <a:latin typeface="Calibri"/>
              </a:rPr>
              <a:t>Nearest clinic can be hours away for rural communities.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0" y="3995928"/>
            <a:ext cx="7406640" cy="868680"/>
          </a:xfrm>
          <a:prstGeom prst="rect">
            <a:avLst/>
          </a:prstGeom>
          <a:solidFill>
            <a:srgbClr val="101022"/>
          </a:solidFill>
          <a:ln w="9525">
            <a:solidFill>
              <a:srgbClr val="2A2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80560" y="3995928"/>
            <a:ext cx="64008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4123944"/>
            <a:ext cx="7077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2F0EC"/>
                </a:solidFill>
                <a:latin typeface="Calibri"/>
              </a:rPr>
              <a:t>Delayed Results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1728" y="4526280"/>
            <a:ext cx="707745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8884"/>
                </a:solidFill>
                <a:latin typeface="Calibri"/>
              </a:rPr>
              <a:t>Results take days. Anemia worsens silently in the meantime.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0" y="4965192"/>
            <a:ext cx="7406640" cy="868680"/>
          </a:xfrm>
          <a:prstGeom prst="rect">
            <a:avLst/>
          </a:prstGeom>
          <a:solidFill>
            <a:srgbClr val="101022"/>
          </a:solidFill>
          <a:ln w="9525">
            <a:solidFill>
              <a:srgbClr val="2A2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80560" y="4965192"/>
            <a:ext cx="64008" cy="868680"/>
          </a:xfrm>
          <a:prstGeom prst="rect">
            <a:avLst/>
          </a:prstGeom>
          <a:solidFill>
            <a:srgbClr val="8A8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1728" y="5093208"/>
            <a:ext cx="7077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2F0EC"/>
                </a:solidFill>
                <a:latin typeface="Calibri"/>
              </a:rPr>
              <a:t>Low Awareness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81728" y="5495544"/>
            <a:ext cx="707745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8884"/>
                </a:solidFill>
                <a:latin typeface="Calibri"/>
              </a:rPr>
              <a:t>Symptoms — fatigue, dizziness — are vague and easy to dismiss.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6263640"/>
            <a:ext cx="11521440" cy="22860"/>
          </a:xfrm>
          <a:prstGeom prst="rect">
            <a:avLst/>
          </a:prstGeom>
          <a:solidFill>
            <a:srgbClr val="2A2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63550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A2830"/>
                </a:solidFill>
                <a:latin typeface="Courier New"/>
              </a:rPr>
              <a:t>SOURCE: WHO GLOBAL ANAEMIA ESTIMATES 2023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502920"/>
            <a:ext cx="11521440" cy="22860"/>
          </a:xfrm>
          <a:prstGeom prst="rect">
            <a:avLst/>
          </a:prstGeom>
          <a:solidFill>
            <a:srgbClr val="2A2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59436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001E"/>
                </a:solidFill>
                <a:latin typeface="Courier New"/>
              </a:rPr>
              <a:t>02  /  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68680"/>
            <a:ext cx="9144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2F0EC"/>
                </a:solidFill>
                <a:latin typeface="Calibri"/>
              </a:rPr>
              <a:t>Your phone is the lab.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874519"/>
            <a:ext cx="3840480" cy="36576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201168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8A8884"/>
                </a:solidFill>
                <a:latin typeface="Calibri"/>
              </a:rPr>
              <a:t>AnemiaLens analyzes the inner lower eyelid (conjunctiva). When hemoglobin drops,
this tissue loses its pink color. Our model detects that pallor — non-invasively.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926080"/>
            <a:ext cx="3657600" cy="3200400"/>
          </a:xfrm>
          <a:prstGeom prst="rect">
            <a:avLst/>
          </a:prstGeom>
          <a:solidFill>
            <a:srgbClr val="101022"/>
          </a:solidFill>
          <a:ln w="15240">
            <a:solidFill>
              <a:srgbClr val="C80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2926080"/>
            <a:ext cx="3657600" cy="64008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283464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161424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12724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2F0EC"/>
                </a:solidFill>
                <a:latin typeface="Calibri"/>
              </a:rPr>
              <a:t>Capture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657600"/>
            <a:ext cx="32918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A8884"/>
                </a:solidFill>
                <a:latin typeface="Calibri"/>
              </a:rPr>
              <a:t>Photograph the inner lower eyelid with any smartphone. No special hardware, no training required.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2926080"/>
            <a:ext cx="3657600" cy="3200400"/>
          </a:xfrm>
          <a:prstGeom prst="rect">
            <a:avLst/>
          </a:prstGeom>
          <a:solidFill>
            <a:srgbClr val="101022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2926080"/>
            <a:ext cx="365760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283464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161424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312724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2F0EC"/>
                </a:solidFill>
                <a:latin typeface="Calibri"/>
              </a:rPr>
              <a:t>Analyze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3657600"/>
            <a:ext cx="32918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A8884"/>
                </a:solidFill>
                <a:latin typeface="Calibri"/>
              </a:rPr>
              <a:t>EfficientNet-B0 estimates hemoglobin (g/dL) from conjunctival pallor. Validated on 710 clinical specimens. Runs in &lt;2s on CPU.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80" y="2926080"/>
            <a:ext cx="3657600" cy="3200400"/>
          </a:xfrm>
          <a:prstGeom prst="rect">
            <a:avLst/>
          </a:prstGeom>
          <a:solidFill>
            <a:srgbClr val="101022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80" y="2926080"/>
            <a:ext cx="3657600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44200" y="283464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161424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5048" y="312724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2F0EC"/>
                </a:solidFill>
                <a:latin typeface="Calibri"/>
              </a:rPr>
              <a:t>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5048" y="3657600"/>
            <a:ext cx="32918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A8884"/>
                </a:solidFill>
                <a:latin typeface="Calibri"/>
              </a:rPr>
              <a:t>Structured clinical brief generated instantly. Triage band assigned. Share with a doctor in one tap.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6263640"/>
            <a:ext cx="11338560" cy="457200"/>
          </a:xfrm>
          <a:prstGeom prst="rect">
            <a:avLst/>
          </a:prstGeom>
          <a:solidFill>
            <a:srgbClr val="101022"/>
          </a:solidFill>
          <a:ln w="9525">
            <a:solidFill>
              <a:srgbClr val="2A2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32764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001E"/>
                </a:solidFill>
                <a:latin typeface="Courier New"/>
              </a:rPr>
              <a:t>ZERO BLOOD DRAW  ·  ZERO HARDWARE  ·  ZERO MARGINAL COST  ·  WORKS OFFLINE  ·  ANY SMARTPHONE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502920"/>
            <a:ext cx="11521440" cy="22860"/>
          </a:xfrm>
          <a:prstGeom prst="rect">
            <a:avLst/>
          </a:prstGeom>
          <a:solidFill>
            <a:srgbClr val="2A2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59436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001E"/>
                </a:solidFill>
                <a:latin typeface="Courier New"/>
              </a:rPr>
              <a:t>03  /  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686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2F0EC"/>
                </a:solidFill>
                <a:latin typeface="Calibri"/>
              </a:rPr>
              <a:t>Five steps to screening clarity.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783080"/>
            <a:ext cx="4572000" cy="36576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965960"/>
            <a:ext cx="2103120" cy="3657600"/>
          </a:xfrm>
          <a:prstGeom prst="rect">
            <a:avLst/>
          </a:prstGeom>
          <a:solidFill>
            <a:srgbClr val="101022"/>
          </a:solidFill>
          <a:ln w="9525">
            <a:solidFill>
              <a:srgbClr val="2A2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965960"/>
            <a:ext cx="2103120" cy="50292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6072" y="2130552"/>
            <a:ext cx="502920" cy="502920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211226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2F0EC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2743200"/>
            <a:ext cx="17739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F0EC"/>
                </a:solidFill>
                <a:latin typeface="Calibri"/>
              </a:rPr>
              <a:t>Capture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3200400"/>
            <a:ext cx="1773936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8884"/>
                </a:solidFill>
                <a:latin typeface="Calibri"/>
              </a:rPr>
              <a:t>Photograph inner lower eyelid in bright daylight.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14600" y="3611880"/>
            <a:ext cx="201168" cy="22860"/>
          </a:xfrm>
          <a:prstGeom prst="rect">
            <a:avLst/>
          </a:prstGeom>
          <a:solidFill>
            <a:srgbClr val="2A2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15768" y="1965960"/>
            <a:ext cx="2103120" cy="3657600"/>
          </a:xfrm>
          <a:prstGeom prst="rect">
            <a:avLst/>
          </a:prstGeom>
          <a:solidFill>
            <a:srgbClr val="101022"/>
          </a:solidFill>
          <a:ln w="9525">
            <a:solidFill>
              <a:srgbClr val="2A2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15768" y="1965960"/>
            <a:ext cx="2103120" cy="50292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80360" y="2130552"/>
            <a:ext cx="502920" cy="502920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80360" y="211226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2F0EC"/>
                </a:solidFill>
                <a:latin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2743200"/>
            <a:ext cx="17739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F0EC"/>
                </a:solidFill>
                <a:latin typeface="Calibri"/>
              </a:rPr>
              <a:t>Quality Gate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3200400"/>
            <a:ext cx="1773936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8884"/>
                </a:solidFill>
                <a:latin typeface="Calibri"/>
              </a:rPr>
              <a:t>AI rejects blurry or misframed images before analysis.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18888" y="3611880"/>
            <a:ext cx="201168" cy="22860"/>
          </a:xfrm>
          <a:prstGeom prst="rect">
            <a:avLst/>
          </a:prstGeom>
          <a:solidFill>
            <a:srgbClr val="2A2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0056" y="1965960"/>
            <a:ext cx="2103120" cy="3657600"/>
          </a:xfrm>
          <a:prstGeom prst="rect">
            <a:avLst/>
          </a:prstGeom>
          <a:solidFill>
            <a:srgbClr val="101022"/>
          </a:solidFill>
          <a:ln w="9525">
            <a:solidFill>
              <a:srgbClr val="2A2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0056" y="1965960"/>
            <a:ext cx="2103120" cy="50292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84648" y="2130552"/>
            <a:ext cx="502920" cy="502920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84648" y="211226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2F0EC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84648" y="2743200"/>
            <a:ext cx="17739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F0EC"/>
                </a:solidFill>
                <a:latin typeface="Calibri"/>
              </a:rPr>
              <a:t>Vision 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4648" y="3200400"/>
            <a:ext cx="1773936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8884"/>
                </a:solidFill>
                <a:latin typeface="Calibri"/>
              </a:rPr>
              <a:t>EfficientNet-B0 estimates hemoglobin from pallor.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23176" y="3611880"/>
            <a:ext cx="201168" cy="22860"/>
          </a:xfrm>
          <a:prstGeom prst="rect">
            <a:avLst/>
          </a:prstGeom>
          <a:solidFill>
            <a:srgbClr val="2A2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24344" y="1965960"/>
            <a:ext cx="2103120" cy="3657600"/>
          </a:xfrm>
          <a:prstGeom prst="rect">
            <a:avLst/>
          </a:prstGeom>
          <a:solidFill>
            <a:srgbClr val="101022"/>
          </a:solidFill>
          <a:ln w="9525">
            <a:solidFill>
              <a:srgbClr val="2A2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24344" y="1965960"/>
            <a:ext cx="2103120" cy="50292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88936" y="2130552"/>
            <a:ext cx="502920" cy="502920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88936" y="211226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2F0EC"/>
                </a:solidFill>
                <a:latin typeface="Calibri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88936" y="2743200"/>
            <a:ext cx="17739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F0EC"/>
                </a:solidFill>
                <a:latin typeface="Calibri"/>
              </a:rPr>
              <a:t>Symptom Fusion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200400"/>
            <a:ext cx="1773936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8884"/>
                </a:solidFill>
                <a:latin typeface="Calibri"/>
              </a:rPr>
              <a:t>Patient symptoms fuse with image biomarkers.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27464" y="3611880"/>
            <a:ext cx="201168" cy="22860"/>
          </a:xfrm>
          <a:prstGeom prst="rect">
            <a:avLst/>
          </a:prstGeom>
          <a:solidFill>
            <a:srgbClr val="2A2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28632" y="1965960"/>
            <a:ext cx="2103120" cy="3657600"/>
          </a:xfrm>
          <a:prstGeom prst="rect">
            <a:avLst/>
          </a:prstGeom>
          <a:solidFill>
            <a:srgbClr val="101022"/>
          </a:solidFill>
          <a:ln w="9525">
            <a:solidFill>
              <a:srgbClr val="2A2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28632" y="1965960"/>
            <a:ext cx="2103120" cy="50292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793224" y="2130552"/>
            <a:ext cx="502920" cy="502920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93224" y="211226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2F0EC"/>
                </a:solidFill>
                <a:latin typeface="Calibri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93224" y="2743200"/>
            <a:ext cx="17739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F0EC"/>
                </a:solidFill>
                <a:latin typeface="Calibri"/>
              </a:rPr>
              <a:t>Clinical Brief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93224" y="3200400"/>
            <a:ext cx="1773936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8884"/>
                </a:solidFill>
                <a:latin typeface="Calibri"/>
              </a:rPr>
              <a:t>Triage band + handoff summary generated instantly.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6263640"/>
            <a:ext cx="11521440" cy="22860"/>
          </a:xfrm>
          <a:prstGeom prst="rect">
            <a:avLst/>
          </a:prstGeom>
          <a:solidFill>
            <a:srgbClr val="2A2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884"/>
                </a:solidFill>
                <a:latin typeface="Courier New"/>
              </a:rPr>
              <a:t>TOTAL TIME FROM CAPTURE TO RESULT: UNDER 60 SECONDS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502920"/>
            <a:ext cx="11521440" cy="22860"/>
          </a:xfrm>
          <a:prstGeom prst="rect">
            <a:avLst/>
          </a:prstGeom>
          <a:solidFill>
            <a:srgbClr val="2A2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59436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001E"/>
                </a:solidFill>
                <a:latin typeface="Courier New"/>
              </a:rPr>
              <a:t>04  /  TECHNOLOGY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686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2F0EC"/>
                </a:solidFill>
                <a:latin typeface="Calibri"/>
              </a:rPr>
              <a:t>The Intelligence Framework.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783080"/>
            <a:ext cx="4389120" cy="36576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965960"/>
            <a:ext cx="11338560" cy="1261872"/>
          </a:xfrm>
          <a:prstGeom prst="rect">
            <a:avLst/>
          </a:prstGeom>
          <a:solidFill>
            <a:srgbClr val="101022"/>
          </a:solidFill>
          <a:ln w="15240">
            <a:solidFill>
              <a:srgbClr val="C80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965960"/>
            <a:ext cx="91440" cy="1261872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8001E"/>
                </a:solidFill>
                <a:latin typeface="Courier New"/>
              </a:rPr>
              <a:t>VISION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2F0EC"/>
                </a:solidFill>
                <a:latin typeface="Calibri"/>
              </a:rPr>
              <a:t>EfficientNet-B0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2103120"/>
            <a:ext cx="22860" cy="987552"/>
          </a:xfrm>
          <a:prstGeom prst="rect">
            <a:avLst/>
          </a:prstGeom>
          <a:solidFill>
            <a:srgbClr val="2A2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2130552"/>
            <a:ext cx="7040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8884"/>
                </a:solidFill>
                <a:latin typeface="Calibri"/>
              </a:rPr>
              <a:t>Trained on 710 conjunctival specimens. Predicts hemoglobin (g/dL) and anemia risk score from a single image. Runs in &lt;2s on CPU.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355848"/>
            <a:ext cx="11338560" cy="1261872"/>
          </a:xfrm>
          <a:prstGeom prst="rect">
            <a:avLst/>
          </a:prstGeom>
          <a:solidFill>
            <a:srgbClr val="101022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355848"/>
            <a:ext cx="91440" cy="12618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44728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59E0B"/>
                </a:solidFill>
                <a:latin typeface="Courier New"/>
              </a:rPr>
              <a:t>GENAI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685032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2F0EC"/>
                </a:solidFill>
                <a:latin typeface="Calibri"/>
              </a:rPr>
              <a:t>Qwen-2.5  (Grounded)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3493008"/>
            <a:ext cx="22860" cy="987552"/>
          </a:xfrm>
          <a:prstGeom prst="rect">
            <a:avLst/>
          </a:prstGeom>
          <a:solidFill>
            <a:srgbClr val="2A2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3520440"/>
            <a:ext cx="7040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8884"/>
                </a:solidFill>
                <a:latin typeface="Calibri"/>
              </a:rPr>
              <a:t>Generates safe, personalized clinical guidance. Constrained by deterministic medical rules — cannot hallucinate a diagnosis. Every output is rule-validated.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4745736"/>
            <a:ext cx="11338560" cy="1261872"/>
          </a:xfrm>
          <a:prstGeom prst="rect">
            <a:avLst/>
          </a:prstGeom>
          <a:solidFill>
            <a:srgbClr val="101022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4745736"/>
            <a:ext cx="91440" cy="12618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83717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10B981"/>
                </a:solidFill>
                <a:latin typeface="Courier New"/>
              </a:rPr>
              <a:t>SAFETY LAYER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07492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2F0EC"/>
                </a:solidFill>
                <a:latin typeface="Calibri"/>
              </a:rPr>
              <a:t>4-Band Triage System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4882896"/>
            <a:ext cx="22860" cy="987552"/>
          </a:xfrm>
          <a:prstGeom prst="rect">
            <a:avLst/>
          </a:prstGeom>
          <a:solidFill>
            <a:srgbClr val="2A2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4910328"/>
            <a:ext cx="7040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8884"/>
                </a:solidFill>
                <a:latin typeface="Calibri"/>
              </a:rPr>
              <a:t>Low / Moderate / High Concern / Retake. Designed to prioritize patient safety over false confidence. Non-diagnostic language throughout.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6172200"/>
            <a:ext cx="1828800" cy="384048"/>
          </a:xfrm>
          <a:prstGeom prst="rect">
            <a:avLst/>
          </a:prstGeom>
          <a:solidFill>
            <a:srgbClr val="101022"/>
          </a:solidFill>
          <a:ln w="9525">
            <a:solidFill>
              <a:srgbClr val="2A2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19963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884"/>
                </a:solidFill>
                <a:latin typeface="Courier New"/>
              </a:rPr>
              <a:t>REACT + VITE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50008" y="6172200"/>
            <a:ext cx="1828800" cy="384048"/>
          </a:xfrm>
          <a:prstGeom prst="rect">
            <a:avLst/>
          </a:prstGeom>
          <a:solidFill>
            <a:srgbClr val="101022"/>
          </a:solidFill>
          <a:ln w="9525">
            <a:solidFill>
              <a:srgbClr val="2A2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41448" y="619963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884"/>
                </a:solidFill>
                <a:latin typeface="Courier New"/>
              </a:rPr>
              <a:t>FASTAPI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88536" y="6172200"/>
            <a:ext cx="1828800" cy="384048"/>
          </a:xfrm>
          <a:prstGeom prst="rect">
            <a:avLst/>
          </a:prstGeom>
          <a:solidFill>
            <a:srgbClr val="101022"/>
          </a:solidFill>
          <a:ln w="9525">
            <a:solidFill>
              <a:srgbClr val="2A2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79976" y="619963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884"/>
                </a:solidFill>
                <a:latin typeface="Courier New"/>
              </a:rPr>
              <a:t>EFFICIENTNET-B0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27064" y="6172200"/>
            <a:ext cx="1828800" cy="384048"/>
          </a:xfrm>
          <a:prstGeom prst="rect">
            <a:avLst/>
          </a:prstGeom>
          <a:solidFill>
            <a:srgbClr val="101022"/>
          </a:solidFill>
          <a:ln w="9525">
            <a:solidFill>
              <a:srgbClr val="2A2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18504" y="619963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884"/>
                </a:solidFill>
                <a:latin typeface="Courier New"/>
              </a:rPr>
              <a:t>QWEN-2.5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65592" y="6172200"/>
            <a:ext cx="1828800" cy="384048"/>
          </a:xfrm>
          <a:prstGeom prst="rect">
            <a:avLst/>
          </a:prstGeom>
          <a:solidFill>
            <a:srgbClr val="101022"/>
          </a:solidFill>
          <a:ln w="9525">
            <a:solidFill>
              <a:srgbClr val="2A2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57032" y="619963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884"/>
                </a:solidFill>
                <a:latin typeface="Courier New"/>
              </a:rPr>
              <a:t>PYTHON 3.11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104120" y="6172200"/>
            <a:ext cx="1828800" cy="384048"/>
          </a:xfrm>
          <a:prstGeom prst="rect">
            <a:avLst/>
          </a:prstGeom>
          <a:solidFill>
            <a:srgbClr val="101022"/>
          </a:solidFill>
          <a:ln w="9525">
            <a:solidFill>
              <a:srgbClr val="2A2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5560" y="619963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884"/>
                </a:solidFill>
                <a:latin typeface="Courier New"/>
              </a:rPr>
              <a:t>NO CLOUD DEPENDENCY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502920"/>
            <a:ext cx="11521440" cy="22860"/>
          </a:xfrm>
          <a:prstGeom prst="rect">
            <a:avLst/>
          </a:prstGeom>
          <a:solidFill>
            <a:srgbClr val="2A2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59436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001E"/>
                </a:solidFill>
                <a:latin typeface="Courier New"/>
              </a:rPr>
              <a:t>05  /  LIVE DEMO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686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2F0EC"/>
                </a:solidFill>
                <a:latin typeface="Calibri"/>
              </a:rPr>
              <a:t>Real screening result.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783080"/>
            <a:ext cx="3474720" cy="36576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965960"/>
            <a:ext cx="5486400" cy="4160520"/>
          </a:xfrm>
          <a:prstGeom prst="rect">
            <a:avLst/>
          </a:prstGeom>
          <a:solidFill>
            <a:srgbClr val="101022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965960"/>
            <a:ext cx="548640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84831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  <a:latin typeface="Courier New"/>
              </a:rPr>
              <a:t>TRIAGE RESULT  ·  MODERATE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7744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F59E0B"/>
                </a:solidFill>
                <a:latin typeface="Calibri"/>
              </a:rPr>
              <a:t>9.8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8404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884"/>
                </a:solidFill>
                <a:latin typeface="Courier New"/>
              </a:rPr>
              <a:t>G/DL  HEMOGLOBIN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206240"/>
            <a:ext cx="5029200" cy="164592"/>
          </a:xfrm>
          <a:prstGeom prst="rect">
            <a:avLst/>
          </a:prstGeom>
          <a:solidFill>
            <a:srgbClr val="1E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4206240"/>
            <a:ext cx="2715768" cy="1645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07408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2A2830"/>
                </a:solidFill>
                <a:latin typeface="Courier New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4407408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59E0B"/>
                </a:solidFill>
                <a:latin typeface="Courier New"/>
              </a:rPr>
              <a:t>9.8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4407408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2A2830"/>
                </a:solidFill>
                <a:latin typeface="Courier New"/>
              </a:rPr>
              <a:t>18 G/DL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6634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8884"/>
                </a:solidFill>
                <a:latin typeface="Calibri"/>
              </a:rPr>
              <a:t>Hemoglobin below normal range.
Clinical follow-up recommended within 1–2 weeks.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5486400"/>
            <a:ext cx="1600200" cy="777240"/>
          </a:xfrm>
          <a:prstGeom prst="rect">
            <a:avLst/>
          </a:prstGeom>
          <a:solidFill>
            <a:srgbClr val="101022"/>
          </a:solidFill>
          <a:ln w="9525">
            <a:solidFill>
              <a:srgbClr val="2A2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5559552"/>
            <a:ext cx="1325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8001E"/>
                </a:solidFill>
                <a:latin typeface="Calibri"/>
              </a:rPr>
              <a:t>68%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608076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A8884"/>
                </a:solidFill>
                <a:latin typeface="Courier New"/>
              </a:rPr>
              <a:t>ANEMIA RISK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5486400"/>
            <a:ext cx="1600200" cy="777240"/>
          </a:xfrm>
          <a:prstGeom prst="rect">
            <a:avLst/>
          </a:prstGeom>
          <a:solidFill>
            <a:srgbClr val="101022"/>
          </a:solidFill>
          <a:ln w="9525">
            <a:solidFill>
              <a:srgbClr val="2A2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96312" y="5559552"/>
            <a:ext cx="1325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2F0EC"/>
                </a:solidFill>
                <a:latin typeface="Calibri"/>
              </a:rPr>
              <a:t>88%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96312" y="608076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A8884"/>
                </a:solidFill>
                <a:latin typeface="Courier New"/>
              </a:rPr>
              <a:t>CONFIDENCE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69080" y="5486400"/>
            <a:ext cx="1600200" cy="777240"/>
          </a:xfrm>
          <a:prstGeom prst="rect">
            <a:avLst/>
          </a:prstGeom>
          <a:solidFill>
            <a:srgbClr val="101022"/>
          </a:solidFill>
          <a:ln w="9525">
            <a:solidFill>
              <a:srgbClr val="2A2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33672" y="5559552"/>
            <a:ext cx="1325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9E0B"/>
                </a:solidFill>
                <a:latin typeface="Calibri"/>
              </a:rPr>
              <a:t>Band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33672" y="608076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A8884"/>
                </a:solidFill>
                <a:latin typeface="Courier New"/>
              </a:rPr>
              <a:t>TRIAGE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1965960"/>
            <a:ext cx="5760720" cy="4160520"/>
          </a:xfrm>
          <a:prstGeom prst="rect">
            <a:avLst/>
          </a:prstGeom>
          <a:solidFill>
            <a:srgbClr val="000000"/>
          </a:solidFill>
          <a:ln w="15240">
            <a:solidFill>
              <a:srgbClr val="C800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0" y="1965960"/>
            <a:ext cx="5760720" cy="347472"/>
          </a:xfrm>
          <a:prstGeom prst="rect">
            <a:avLst/>
          </a:prstGeom>
          <a:solidFill>
            <a:srgbClr val="101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202996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001E"/>
                </a:solidFill>
                <a:latin typeface="Courier New"/>
              </a:rPr>
              <a:t>CLINICAL HANDOFF BRIEF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247120" y="2048256"/>
            <a:ext cx="146304" cy="146304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991088" y="2048256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735056" y="2048256"/>
            <a:ext cx="146304" cy="14630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242316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001E"/>
                </a:solidFill>
                <a:latin typeface="Courier New"/>
              </a:rPr>
              <a:t>PROVIDER: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242316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2F0EC"/>
                </a:solidFill>
                <a:latin typeface="Courier New"/>
              </a:rPr>
              <a:t>EFFICIENTNET-B0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825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001E"/>
                </a:solidFill>
                <a:latin typeface="Courier New"/>
              </a:rPr>
              <a:t>RISK SCORE: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0" y="2825496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2F0EC"/>
                </a:solidFill>
                <a:latin typeface="Courier New"/>
              </a:rPr>
              <a:t>68.4%  (MODERATE)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322783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001E"/>
                </a:solidFill>
                <a:latin typeface="Courier New"/>
              </a:rPr>
              <a:t>HB ESTIMATE: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60" y="322783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2F0EC"/>
                </a:solidFill>
                <a:latin typeface="Courier New"/>
              </a:rPr>
              <a:t>9.8 G/DL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36301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001E"/>
                </a:solidFill>
                <a:latin typeface="Courier New"/>
              </a:rPr>
              <a:t>CONFIDENCE: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60" y="363016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2F0EC"/>
                </a:solidFill>
                <a:latin typeface="Courier New"/>
              </a:rPr>
              <a:t>88%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9360" y="403250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001E"/>
                </a:solidFill>
                <a:latin typeface="Courier New"/>
              </a:rPr>
              <a:t>TRIAGE BAND: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0" y="4032504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2F0EC"/>
                </a:solidFill>
                <a:latin typeface="Courier New"/>
              </a:rPr>
              <a:t>BAND 2  —  MONITOR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9360" y="44348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001E"/>
                </a:solidFill>
                <a:latin typeface="Courier New"/>
              </a:rPr>
              <a:t>SYMPTOMS: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60" y="443484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2F0EC"/>
                </a:solidFill>
                <a:latin typeface="Courier New"/>
              </a:rPr>
              <a:t>FATIGUE, DIZZINESS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9360" y="483717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001E"/>
                </a:solidFill>
                <a:latin typeface="Courier New"/>
              </a:rPr>
              <a:t>NEXT STEP: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4837176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2F0EC"/>
                </a:solidFill>
                <a:latin typeface="Courier New"/>
              </a:rPr>
              <a:t>CBC WITHIN 1–2 WEEKS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09360" y="52395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001E"/>
                </a:solidFill>
                <a:latin typeface="Courier New"/>
              </a:rPr>
              <a:t>DISCLAIMER: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8160" y="523951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2F0EC"/>
                </a:solidFill>
                <a:latin typeface="Courier New"/>
              </a:rPr>
              <a:t>SCREENING ONLY. NOT DIAGNOSTIC.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0" y="1828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14121E"/>
                </a:solidFill>
                <a:latin typeface="Calibri"/>
              </a:rPr>
              <a:t>1.6B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502920"/>
            <a:ext cx="11521440" cy="22860"/>
          </a:xfrm>
          <a:prstGeom prst="rect">
            <a:avLst/>
          </a:prstGeom>
          <a:solidFill>
            <a:srgbClr val="2A2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59436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001E"/>
                </a:solidFill>
                <a:latin typeface="Courier New"/>
              </a:rPr>
              <a:t>06  / 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686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2F0EC"/>
                </a:solidFill>
                <a:latin typeface="Calibri"/>
              </a:rPr>
              <a:t>Designed for the last mile.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783080"/>
            <a:ext cx="3840480" cy="36576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965960"/>
            <a:ext cx="5486400" cy="1691640"/>
          </a:xfrm>
          <a:prstGeom prst="rect">
            <a:avLst/>
          </a:prstGeom>
          <a:solidFill>
            <a:srgbClr val="101022"/>
          </a:solidFill>
          <a:ln w="9525">
            <a:solidFill>
              <a:srgbClr val="2A2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965960"/>
            <a:ext cx="64008" cy="1691640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2093976"/>
            <a:ext cx="51572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F0EC"/>
                </a:solidFill>
                <a:latin typeface="Calibri"/>
              </a:rPr>
              <a:t>Community Health Workers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496312"/>
            <a:ext cx="5157216" cy="1033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8884"/>
                </a:solidFill>
                <a:latin typeface="Calibri"/>
              </a:rPr>
              <a:t>Deploy in rural India, sub-Saharan Africa, or any low-resource setting. No training beyond a 5-minute guide.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965960"/>
            <a:ext cx="5486400" cy="1691640"/>
          </a:xfrm>
          <a:prstGeom prst="rect">
            <a:avLst/>
          </a:prstGeom>
          <a:solidFill>
            <a:srgbClr val="101022"/>
          </a:solidFill>
          <a:ln w="9525">
            <a:solidFill>
              <a:srgbClr val="2A2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65960"/>
            <a:ext cx="64008" cy="1691640"/>
          </a:xfrm>
          <a:prstGeom prst="rect">
            <a:avLst/>
          </a:prstGeom>
          <a:solidFill>
            <a:srgbClr val="E8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2093976"/>
            <a:ext cx="51572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F0EC"/>
                </a:solidFill>
                <a:latin typeface="Calibri"/>
              </a:rPr>
              <a:t>Pregnant Women &amp; Children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496312"/>
            <a:ext cx="5157216" cy="1033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8884"/>
                </a:solidFill>
                <a:latin typeface="Calibri"/>
              </a:rPr>
              <a:t>The highest-risk groups — least likely to access a clinic. AnemiaLens meets them where they are.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840479"/>
            <a:ext cx="5486400" cy="1691640"/>
          </a:xfrm>
          <a:prstGeom prst="rect">
            <a:avLst/>
          </a:prstGeom>
          <a:solidFill>
            <a:srgbClr val="101022"/>
          </a:solidFill>
          <a:ln w="9525">
            <a:solidFill>
              <a:srgbClr val="2A2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3840479"/>
            <a:ext cx="64008" cy="1691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968495"/>
            <a:ext cx="51572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F0EC"/>
                </a:solidFill>
                <a:latin typeface="Calibri"/>
              </a:rPr>
              <a:t>School &amp; Field Nurses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4370831"/>
            <a:ext cx="5157216" cy="1033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8884"/>
                </a:solidFill>
                <a:latin typeface="Calibri"/>
              </a:rPr>
              <a:t>Rapid triage in schools, refugee camps, and disaster zones. Results in under 60 seconds.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3840479"/>
            <a:ext cx="5486400" cy="1691640"/>
          </a:xfrm>
          <a:prstGeom prst="rect">
            <a:avLst/>
          </a:prstGeom>
          <a:solidFill>
            <a:srgbClr val="101022"/>
          </a:solidFill>
          <a:ln w="9525">
            <a:solidFill>
              <a:srgbClr val="2A2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3840479"/>
            <a:ext cx="64008" cy="1691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3368" y="3968495"/>
            <a:ext cx="51572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F0EC"/>
                </a:solidFill>
                <a:latin typeface="Calibri"/>
              </a:rPr>
              <a:t>Telemedicine Platforms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4370831"/>
            <a:ext cx="5157216" cy="1033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8884"/>
                </a:solidFill>
                <a:latin typeface="Calibri"/>
              </a:rPr>
              <a:t>Structured clinical brief integrates directly into existing telehealth workflows via share/export.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833872"/>
            <a:ext cx="11338560" cy="475488"/>
          </a:xfrm>
          <a:prstGeom prst="rect">
            <a:avLst/>
          </a:prstGeom>
          <a:solidFill>
            <a:srgbClr val="101022"/>
          </a:solidFill>
          <a:ln w="9525">
            <a:solidFill>
              <a:srgbClr val="2A2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590702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001E"/>
                </a:solidFill>
                <a:latin typeface="Courier New"/>
              </a:rPr>
              <a:t>UN SDG 3: GOOD HEALTH &amp; WELL-BEING   ·   UN SDG 10: REDUCED INEQUALITIES   ·   UN SDG 1: NO POVERTY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0" y="73152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0" b="1" i="0">
                <a:solidFill>
                  <a:srgbClr val="14121E"/>
                </a:solidFill>
                <a:latin typeface="Calibri"/>
              </a:rPr>
              <a:t>AL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502920"/>
            <a:ext cx="11521440" cy="22860"/>
          </a:xfrm>
          <a:prstGeom prst="rect">
            <a:avLst/>
          </a:prstGeom>
          <a:solidFill>
            <a:srgbClr val="2A2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005840"/>
            <a:ext cx="11338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2F0EC"/>
                </a:solidFill>
                <a:latin typeface="Calibri"/>
              </a:rPr>
              <a:t>AnemiaLens doesn't replace doctors.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148840"/>
            <a:ext cx="11338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8A8884"/>
                </a:solidFill>
                <a:latin typeface="Calibri"/>
              </a:rPr>
              <a:t>It gets patients to doctors sooner,
with better information, at zero cost.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429000"/>
            <a:ext cx="11338560" cy="45720"/>
          </a:xfrm>
          <a:prstGeom prst="rect">
            <a:avLst/>
          </a:prstGeom>
          <a:solidFill>
            <a:srgbClr val="C80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3657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8001E"/>
                </a:solidFill>
                <a:latin typeface="Calibri"/>
              </a:rPr>
              <a:t>1.6B+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663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884"/>
                </a:solidFill>
                <a:latin typeface="Courier New"/>
              </a:rPr>
              <a:t>PEOPLE WE CAN REACH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3657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2F0EC"/>
                </a:solidFill>
                <a:latin typeface="Calibri"/>
              </a:rPr>
              <a:t>92%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663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884"/>
                </a:solidFill>
                <a:latin typeface="Courier New"/>
              </a:rPr>
              <a:t>SENSITIVITY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657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10B981"/>
                </a:solidFill>
                <a:latin typeface="Calibri"/>
              </a:rPr>
              <a:t>$0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4663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884"/>
                </a:solidFill>
                <a:latin typeface="Courier New"/>
              </a:rPr>
              <a:t>MARGINAL COST / SCREENING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3657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59E0B"/>
                </a:solidFill>
                <a:latin typeface="Calibri"/>
              </a:rPr>
              <a:t>&lt;60s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663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8884"/>
                </a:solidFill>
                <a:latin typeface="Courier New"/>
              </a:rPr>
              <a:t>TIME TO RESULT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20640"/>
            <a:ext cx="11338560" cy="22860"/>
          </a:xfrm>
          <a:prstGeom prst="rect">
            <a:avLst/>
          </a:prstGeom>
          <a:solidFill>
            <a:srgbClr val="2A2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530352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2F0EC"/>
                </a:solidFill>
                <a:latin typeface="Calibri"/>
              </a:rPr>
              <a:t>Thank you.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2636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A2830"/>
                </a:solidFill>
                <a:latin typeface="Courier New"/>
              </a:rPr>
              <a:t>ANEMIALENS  ·  HACKATHON 2026  ·  AI FOR HEALTH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